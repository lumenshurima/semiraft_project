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be1ebcd1e94b7b" /><Relationship Type="http://schemas.openxmlformats.org/officeDocument/2006/relationships/extended-properties" Target="/docProps/app.xml" Id="R61879abfa6634c36" /><Relationship Type="http://schemas.openxmlformats.org/officeDocument/2006/relationships/officeDocument" Target="/ppt/presentation.xml" Id="R9eb12458d10948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8b0fd5c4e4c37"/>
  </p:sldMasterIdLst>
  <p:notesMasterIdLst>
    <p:notesMasterId xmlns:r="http://schemas.openxmlformats.org/officeDocument/2006/relationships" r:id="R70074c53e37943fb"/>
  </p:notesMasterIdLst>
  <p:sldIdLst>
    <p:sldId xmlns:r="http://schemas.openxmlformats.org/officeDocument/2006/relationships" id="256" r:id="R193f8fcb3cec484f"/>
    <p:sldId xmlns:r="http://schemas.openxmlformats.org/officeDocument/2006/relationships" id="257" r:id="Rf8cdb54622754247"/>
    <p:sldId xmlns:r="http://schemas.openxmlformats.org/officeDocument/2006/relationships" id="258" r:id="Rbbde9dfb79c84ca7"/>
    <p:sldId xmlns:r="http://schemas.openxmlformats.org/officeDocument/2006/relationships" id="259" r:id="R728757dd5ae64092"/>
    <p:sldId xmlns:r="http://schemas.openxmlformats.org/officeDocument/2006/relationships" id="260" r:id="Rb0cff2f00b8a4b5f"/>
    <p:sldId xmlns:r="http://schemas.openxmlformats.org/officeDocument/2006/relationships" id="261" r:id="Rfd82d4eaf81d4475"/>
    <p:sldId xmlns:r="http://schemas.openxmlformats.org/officeDocument/2006/relationships" id="262" r:id="R645f96946b0e4a0c"/>
    <p:sldId xmlns:r="http://schemas.openxmlformats.org/officeDocument/2006/relationships" id="263" r:id="Rd6895205d3824a7a"/>
    <p:sldId xmlns:r="http://schemas.openxmlformats.org/officeDocument/2006/relationships" id="264" r:id="R1aa2a0c52c054f58"/>
    <p:sldId xmlns:r="http://schemas.openxmlformats.org/officeDocument/2006/relationships" id="265" r:id="Rc351ce7091b64b6f"/>
    <p:sldId xmlns:r="http://schemas.openxmlformats.org/officeDocument/2006/relationships" id="266" r:id="Redce7214082247e7"/>
    <p:sldId xmlns:r="http://schemas.openxmlformats.org/officeDocument/2006/relationships" id="267" r:id="R945a9429391e4c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8b0fd5c4e4c37" /><Relationship Type="http://schemas.openxmlformats.org/officeDocument/2006/relationships/theme" Target="/ppt/theme/theme1.xml" Id="R43a74497959a4b5d" /><Relationship Type="http://schemas.openxmlformats.org/officeDocument/2006/relationships/notesMaster" Target="/ppt/notesMasters/notesMaster1.xml" Id="R70074c53e37943fb" /><Relationship Type="http://schemas.openxmlformats.org/officeDocument/2006/relationships/presProps" Target="/ppt/presProps.xml" Id="R15bb4580cd124458" /><Relationship Type="http://schemas.openxmlformats.org/officeDocument/2006/relationships/viewProps" Target="/ppt/viewProps.xml" Id="R0865560e319c4bf7" /><Relationship Type="http://schemas.openxmlformats.org/officeDocument/2006/relationships/tableStyles" Target="/ppt/tableStyles.xml" Id="Redd7745eb64f4682" /><Relationship Type="http://schemas.openxmlformats.org/officeDocument/2006/relationships/slide" Target="/ppt/slides/slide1.xml" Id="R193f8fcb3cec484f" /><Relationship Type="http://schemas.openxmlformats.org/officeDocument/2006/relationships/slide" Target="/ppt/slides/slide2.xml" Id="Rf8cdb54622754247" /><Relationship Type="http://schemas.openxmlformats.org/officeDocument/2006/relationships/slide" Target="/ppt/slides/slide3.xml" Id="Rbbde9dfb79c84ca7" /><Relationship Type="http://schemas.openxmlformats.org/officeDocument/2006/relationships/slide" Target="/ppt/slides/slide4.xml" Id="R728757dd5ae64092" /><Relationship Type="http://schemas.openxmlformats.org/officeDocument/2006/relationships/slide" Target="/ppt/slides/slide5.xml" Id="Rb0cff2f00b8a4b5f" /><Relationship Type="http://schemas.openxmlformats.org/officeDocument/2006/relationships/slide" Target="/ppt/slides/slide6.xml" Id="Rfd82d4eaf81d4475" /><Relationship Type="http://schemas.openxmlformats.org/officeDocument/2006/relationships/slide" Target="/ppt/slides/slide7.xml" Id="R645f96946b0e4a0c" /><Relationship Type="http://schemas.openxmlformats.org/officeDocument/2006/relationships/slide" Target="/ppt/slides/slide8.xml" Id="Rd6895205d3824a7a" /><Relationship Type="http://schemas.openxmlformats.org/officeDocument/2006/relationships/slide" Target="/ppt/slides/slide9.xml" Id="R1aa2a0c52c054f58" /><Relationship Type="http://schemas.openxmlformats.org/officeDocument/2006/relationships/slide" Target="/ppt/slides/slide10.xml" Id="Rc351ce7091b64b6f" /><Relationship Type="http://schemas.openxmlformats.org/officeDocument/2006/relationships/slide" Target="/ppt/slides/slide11.xml" Id="Redce7214082247e7" /><Relationship Type="http://schemas.openxmlformats.org/officeDocument/2006/relationships/slide" Target="/ppt/slides/slide12.xml" Id="R945a9429391e4c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7d3819fb67b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6c57a041fa47df" /><Relationship Type="http://schemas.openxmlformats.org/officeDocument/2006/relationships/notesMaster" Target="/ppt/notesMasters/notesMaster1.xml" Id="R882cb3a99dc2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68f1050334ba9" /><Relationship Type="http://schemas.openxmlformats.org/officeDocument/2006/relationships/notesMaster" Target="/ppt/notesMasters/notesMaster1.xml" Id="R48b8265cfe2448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6fa466bf542cf" /><Relationship Type="http://schemas.openxmlformats.org/officeDocument/2006/relationships/notesMaster" Target="/ppt/notesMasters/notesMaster1.xml" Id="R1dd2e767dc3b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99986baf341a7" /><Relationship Type="http://schemas.openxmlformats.org/officeDocument/2006/relationships/notesMaster" Target="/ppt/notesMasters/notesMaster1.xml" Id="R90f1afc6e5cb47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6ab468cba4819" /><Relationship Type="http://schemas.openxmlformats.org/officeDocument/2006/relationships/notesMaster" Target="/ppt/notesMasters/notesMaster1.xml" Id="R5f8c20cbdc9e48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9c4d2b26844280" /><Relationship Type="http://schemas.openxmlformats.org/officeDocument/2006/relationships/notesMaster" Target="/ppt/notesMasters/notesMaster1.xml" Id="R1e5ea1584fb040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5425d733e4c73" /><Relationship Type="http://schemas.openxmlformats.org/officeDocument/2006/relationships/notesMaster" Target="/ppt/notesMasters/notesMaster1.xml" Id="R325a7d0c484b4a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45f4d096354900" /><Relationship Type="http://schemas.openxmlformats.org/officeDocument/2006/relationships/notesMaster" Target="/ppt/notesMasters/notesMaster1.xml" Id="R2b36ccb0baeb45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a6d69d73ea4603" /><Relationship Type="http://schemas.openxmlformats.org/officeDocument/2006/relationships/notesMaster" Target="/ppt/notesMasters/notesMaster1.xml" Id="R4e8e37408e7f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7c2d5ac43b4993" /><Relationship Type="http://schemas.openxmlformats.org/officeDocument/2006/relationships/notesMaster" Target="/ppt/notesMasters/notesMaster1.xml" Id="Ra528f8b187964c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f7ffca84cc4873" /><Relationship Type="http://schemas.openxmlformats.org/officeDocument/2006/relationships/notesMaster" Target="/ppt/notesMasters/notesMaster1.xml" Id="R9a740ca6b72346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887311d6444101" /><Relationship Type="http://schemas.openxmlformats.org/officeDocument/2006/relationships/notesMaster" Target="/ppt/notesMasters/notesMaster1.xml" Id="R0eaf2af6d15540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f4b3fceba4a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97e925a3fa4928" /><Relationship Type="http://schemas.openxmlformats.org/officeDocument/2006/relationships/slideLayout" Target="/ppt/slideLayouts/slideLayout2.xml" Id="R9b798aa05d78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98aa05d78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b6a54d7204bbc" /><Relationship Type="http://schemas.openxmlformats.org/officeDocument/2006/relationships/image" Target="/ppt/media/image.png" Id="R83ee0cca616b42b3" /><Relationship Type="http://schemas.openxmlformats.org/officeDocument/2006/relationships/image" Target="/ppt/media/image2.png" Id="Ref2c42935aa749df" /><Relationship Type="http://schemas.openxmlformats.org/officeDocument/2006/relationships/notesSlide" Target="/ppt/notesSlides/notesSlide1.xml" Id="R81b49490a1dc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e44b3f5e543b2" /><Relationship Type="http://schemas.openxmlformats.org/officeDocument/2006/relationships/image" Target="/ppt/media/image3.png" Id="Rf5fe4061b9be4d36" /><Relationship Type="http://schemas.openxmlformats.org/officeDocument/2006/relationships/image" Target="/ppt/media/image4.png" Id="R195d530bc81d4fc1" /><Relationship Type="http://schemas.openxmlformats.org/officeDocument/2006/relationships/image" Target="/ppt/media/image5.png" Id="Rba57ca25da944b6b" /><Relationship Type="http://schemas.openxmlformats.org/officeDocument/2006/relationships/image" Target="/ppt/media/image6.png" Id="R4cf274cbb6064251" /><Relationship Type="http://schemas.openxmlformats.org/officeDocument/2006/relationships/notesSlide" Target="/ppt/notesSlides/notesSlide2.xml" Id="R049e6d0ba03843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39635214794642" /><Relationship Type="http://schemas.openxmlformats.org/officeDocument/2006/relationships/notesSlide" Target="/ppt/notesSlides/notesSlide3.xml" Id="R3f3f89ee74bd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ff22549ca74573" /><Relationship Type="http://schemas.openxmlformats.org/officeDocument/2006/relationships/image" Target="/ppt/media/image7.png" Id="Re26f5a3ebbb64be4" /><Relationship Type="http://schemas.openxmlformats.org/officeDocument/2006/relationships/image" Target="/ppt/media/image8.png" Id="Rd9c1b749c027463d" /><Relationship Type="http://schemas.openxmlformats.org/officeDocument/2006/relationships/image" Target="/ppt/media/image9.png" Id="Rc35c77ecd21144bf" /><Relationship Type="http://schemas.openxmlformats.org/officeDocument/2006/relationships/notesSlide" Target="/ppt/notesSlides/notesSlide4.xml" Id="R911154acf4ef43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01afdba2684f77" /><Relationship Type="http://schemas.openxmlformats.org/officeDocument/2006/relationships/notesSlide" Target="/ppt/notesSlides/notesSlide5.xml" Id="R1e817d08035344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671aa42b045eb" /><Relationship Type="http://schemas.openxmlformats.org/officeDocument/2006/relationships/image" Target="/ppt/media/image10.png" Id="R7c2b7dd07909423e" /><Relationship Type="http://schemas.openxmlformats.org/officeDocument/2006/relationships/notesSlide" Target="/ppt/notesSlides/notesSlide6.xml" Id="R25c2cfda10464a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68a86d77c4337" /><Relationship Type="http://schemas.openxmlformats.org/officeDocument/2006/relationships/image" Target="/ppt/media/image11.png" Id="R91496394ea284966" /><Relationship Type="http://schemas.openxmlformats.org/officeDocument/2006/relationships/image" Target="/ppt/media/image12.png" Id="R1fbe2bf32e2c41d3" /><Relationship Type="http://schemas.openxmlformats.org/officeDocument/2006/relationships/notesSlide" Target="/ppt/notesSlides/notesSlide7.xml" Id="Rdfa2757019954e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0bbb4bf3f3457c" /><Relationship Type="http://schemas.openxmlformats.org/officeDocument/2006/relationships/image" Target="/ppt/media/image.jpeg" Id="Rdd752c8d6366488a" /><Relationship Type="http://schemas.openxmlformats.org/officeDocument/2006/relationships/notesSlide" Target="/ppt/notesSlides/notesSlide8.xml" Id="Rda49f733bf38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f365d51fa4c87" /><Relationship Type="http://schemas.openxmlformats.org/officeDocument/2006/relationships/image" Target="/ppt/media/image13.png" Id="R14f13df5ca50446c" /><Relationship Type="http://schemas.openxmlformats.org/officeDocument/2006/relationships/image" Target="/ppt/media/image14.png" Id="R4fde59687b4949b9" /><Relationship Type="http://schemas.openxmlformats.org/officeDocument/2006/relationships/notesSlide" Target="/ppt/notesSlides/notesSlide9.xml" Id="R51070b44b1444d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2456c07e794765" /><Relationship Type="http://schemas.openxmlformats.org/officeDocument/2006/relationships/notesSlide" Target="/ppt/notesSlides/notesSlide10.xml" Id="R5f9f7921c5f84f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397c09e0364ad2" /><Relationship Type="http://schemas.openxmlformats.org/officeDocument/2006/relationships/image" Target="/ppt/media/image15.png" Id="Re237fb046f704723" /><Relationship Type="http://schemas.openxmlformats.org/officeDocument/2006/relationships/image" Target="/ppt/media/image16.png" Id="Rd7e50e06a3b44602" /><Relationship Type="http://schemas.openxmlformats.org/officeDocument/2006/relationships/image" Target="/ppt/media/image17.png" Id="Rabe3994e75d24110" /><Relationship Type="http://schemas.openxmlformats.org/officeDocument/2006/relationships/image" Target="/ppt/media/image18.png" Id="R0ccc1107a75a418d" /><Relationship Type="http://schemas.openxmlformats.org/officeDocument/2006/relationships/notesSlide" Target="/ppt/notesSlides/notesSlide11.xml" Id="R6eb8a043c48444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f40fcde794f93" /><Relationship Type="http://schemas.openxmlformats.org/officeDocument/2006/relationships/notesSlide" Target="/ppt/notesSlides/notesSlide12.xml" Id="Rcbc45b8798f341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ABC86-D029-4516-92F4-E00D1800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e0cca616b42b3"/>
          <a:srcRect xmlns:a="http://schemas.openxmlformats.org/drawingml/2006/main" l="7522" t="0" r="75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8689F-4745-4603-8E06-EAE61783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2322"/>
              </a:gs>
              <a:gs pos="35000">
                <a:srgbClr val="142322">
                  <a:alpha val="90980"/>
                </a:srgbClr>
              </a:gs>
              <a:gs pos="72000">
                <a:srgbClr val="142322">
                  <a:alpha val="33333"/>
                </a:srgbClr>
              </a:gs>
              <a:gs pos="100000">
                <a:srgbClr val="142322">
                  <a:alpha val="6275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39ED4-EAD7-4303-AF4D-8F678DD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0673D-2E0E-436D-B6B7-5DEFEDE9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SemiRaft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0D121-7CAF-4DB6-A231-103A8FB5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발표 자료 보강안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A759E-5ECE-4BE4-A8DA-D9A55BEF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857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E3D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E9E3D7"/>
                </a:solidFill>
                <a:latin typeface="Malgun Gothic"/>
                <a:ea typeface="Malgun Gothic"/>
                <a:cs typeface="Malgun Gothic"/>
              </a:rPr>
              <a:t>소스 코드와 발표용 PDF에서 확인한 구현 범위를 바탕으로, 기능 설명과 변경 사항을 한 번에 전달하는 새 발표본입니다.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54775-4122-4AB5-8EA2-C4AF32B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>
              <a:alpha val="94902"/>
            </a:srgbClr>
          </a:solidFill>
          <a:ln xmlns:a="http://schemas.openxmlformats.org/drawingml/2006/main" w="0">
            <a:solidFill>
              <a:srgbClr val="F5F0E8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B95CE-4C8F-41F6-BFF1-1C752624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Source +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8F3C-E5DC-42D3-96DD-59447BB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분석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E4CA-04FE-45F6-937A-07DC1A0C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00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13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97B4D-750F-4061-A12F-A893F7DF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006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확인 페이지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1D888-FA27-4483-A70B-3A8B2D3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005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6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D4D9A-72A3-45D7-B9DF-98876CCD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006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핵심 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D842A-40C7-45AC-8943-7A15874B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42950"/>
            <a:ext cx="3067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c42935aa749df"/>
          <a:srcRect xmlns:a="http://schemas.openxmlformats.org/drawingml/2006/main" l="0" t="5140" r="0" b="5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800100"/>
            <a:ext cx="2952750" cy="1657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CA4E5-5EA2-4FAB-A1AD-39823AB3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Source: SemiRaft project + 발표용.pdf extracted gameplay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E5E45-1852-4C2B-BC0A-F1D4AE2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39625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51F80-7816-4AAD-9B34-BB4B36B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17DF809-775A-4525-A210-5AFBE44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BD5DE416-BAC3-42B6-B685-1FF4982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PDF + SOURCE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ADD76-E859-4000-AC02-BA1B8F7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현재 PDF는 화면 자료가 좋지만, 구현 구조 설명이 보강돼야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7678B-2030-4557-8F8B-465F04E1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9EFF9-ABCE-42A6-9E75-B4DD21AC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7E008-5BD3-41F1-93AE-28FF27F1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476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· PDF 13페이지는 텍스트 레이어가 없고, 보이는 문자는 벡터/윤곽선으로 들어 있습니다.</a:t>
            </a:r>
          </a:p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· 추출 가능한 이미지는 후킹, 인벤토리, 부력 수식, 날씨, 건설 프리뷰, 에디터 캡처입니다.</a:t>
            </a:r>
          </a:p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· 소스에는 발표에 넣을 수 있는 실제 클래스/함수 단위의 구현 증거가 충분합니다.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298DB-9202-484D-9B24-BDC6D64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발표 변경 방향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BA26F-BD5B-4368-BAA7-E732C1C1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7598A-C9D1-4409-AD56-8BD9B6AB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447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이미지 나열에서 끝내지 말고, 각 장면이 어떤 코드 시스템으로 동작하는지 연결해 설명합니다. 특히 건설/부력/날씨/상어 인카운터는 기능 단위 슬라이드가 필요합니다.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B156E-0048-4C4E-A1EB-4B30FE0C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33550"/>
            <a:ext cx="51435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6ED65-5F21-4D69-931A-0A089BD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81200"/>
            <a:ext cx="2190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4061b9be4d36"/>
          <a:srcRect xmlns:a="http://schemas.openxmlformats.org/drawingml/2006/main" l="12" t="0" r="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038350"/>
            <a:ext cx="2076450" cy="1295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876E6-5A38-46EB-9610-B6E1FF3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19240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d530bc81d4fc1"/>
          <a:srcRect xmlns:a="http://schemas.openxmlformats.org/drawingml/2006/main" l="2631" t="0" r="26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38350"/>
            <a:ext cx="1809750" cy="12954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BA70B-4189-44DE-94AB-4AD3D4E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2190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7ca25da944b6b"/>
          <a:srcRect xmlns:a="http://schemas.openxmlformats.org/drawingml/2006/main" l="229" t="0" r="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790950"/>
            <a:ext cx="207645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A5E34-9FDD-44F4-9DB5-368D26A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1924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274cbb6064251"/>
          <a:srcRect xmlns:a="http://schemas.openxmlformats.org/drawingml/2006/main" l="1857" t="0" r="1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3790950"/>
            <a:ext cx="1809750" cy="11811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C3CC2-F16C-45A5-A12B-9DAD045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006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PDF에서 재사용할 수 있는 화면 증거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3BF49-D7C0-452A-B162-EBB7F73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PDF text extraction: empty text layer; source evidence from Source/SemiRaft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B0DA5-CDD9-4F66-95C7-745BD656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93564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4A073-3FD7-4FB9-B3FC-36B1951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2CCF7CA2-AF95-4E5A-BF1C-D01ECFAA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CFC40F3-1E5C-4FF0-A03E-84ECD54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ADD / CHANGE 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2D077-897E-473D-B365-03F1AE99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추가·변경 사항은 발표 구조, 구현 증거, 데모 안정성으로 나뉩니다.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73C2F-C481-40EC-9F42-12EAD557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42A67-0B34-4B2A-B5DB-B1A95E6D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추가해야 할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A6D77-B009-4DA7-962C-BCC75C01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B5AD1-86F0-4C54-9EA5-1C97681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33575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발표 자료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A814F-601E-4BE5-BC05-56BFA01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B9B3E-70B0-43EB-AE65-ABA4A8C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33575"/>
            <a:ext cx="3371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1E954-1156-4890-A420-ACFF18FE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C5AC7-AE3F-483E-8B1B-5070317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91D1D-EF2C-46C4-8BC6-95B69C2E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80016-7630-4C54-AE23-3370EC5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클래스 관계도를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AA224-EDA4-4C9D-988D-9051E287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FE257-1BFA-4805-999B-0DEF6EEC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소스 구현 범위가 한눈에 보임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E0698-AE82-44F9-8023-2EB9484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65E57-E5BB-4259-862C-098E54E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게임 루프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1378F-2F99-45BF-A8E8-BA98DDB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6EB96-BF6A-4BE2-8CEF-E882BF83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수집→제작→확장→위협 흐름으로 재배치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D312C-2EB9-4609-9E00-8E7D3939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5775B-659B-410F-8D9B-307F86E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장면들이 기능 목표로 연결됨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8C288-7C3F-47CA-A4FF-AEF2F349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96833-A754-4897-8091-2DC7E0AE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코드 증거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2409B-4FEC-4FFB-9583-90EB6DC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0F51D-E512-43C2-95CD-D39D80B5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052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핵심 함수명/비용/상태값을 캡션에 명시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0CFE4-A5E9-47D7-A814-39515144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2B8C7-4097-497C-984C-C3337CC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발표 신뢰도 상승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A78D47-9B68-472B-BD2E-9CCF450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695E2-E6FE-47D9-A5FA-1E4ED2B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시연 스크립트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D6B1D-61EB-430B-80F3-3BE552F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E9380-4CC1-4FA5-A35A-73B022F6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576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후킹, 건설, 폭풍, 상어 공격 순서로 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16DBD-6864-435B-8289-5DDDD775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94072-4EBB-4A53-AE18-C3047D8B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데모가 끊기지 않음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08875E-C98D-4C02-AB0D-B12111CB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CE19A9-6C13-483E-8C36-5844271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한계/리스크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1CE919-695D-440B-85F1-D1A448A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461B81-03A6-4F4E-BEA6-66689A83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미완성/하드코딩/안정성 항목 분리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7D8F47-2A8F-4892-81C5-F6FF1F52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807C98-9E76-48D8-AB4C-117B544F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질문 대응이 쉬움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0DCFCF-FCA2-4B32-84E0-36562ED3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4929C9-07E8-47F2-8056-BA1A1A6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향후 계획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1B51B8-4EDF-41FE-8B44-32AEB3D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E5B875-DB3B-446A-BCF4-F5DCA519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625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발표용 작업과 코드 개선 작업을 나눠 제시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8D5BF6-DB6B-45FD-B4A5-C21554A3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682679-59A9-4782-BA82-085586C7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625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35413B"/>
                </a:solidFill>
                <a:latin typeface="Malgun Gothic"/>
                <a:ea typeface="Malgun Gothic"/>
                <a:cs typeface="Malgun Gothic"/>
              </a:rPr>
              <a:t>마무리 메시지가 선명함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FAD326-BAB5-4E86-B9F4-E3BFEFDE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3FF2E5-E7D1-49F6-ABE0-9BF46FB1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우선순위: 아키텍처/게임 루프/데모 스크립트는 본문, 리스크와 세부 코드 개선은 마지막 장으로 배치합니다.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6F60E5-587C-4545-9568-62BC7272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Change list synthesized from PDF assets and Source/SemiRaft implementation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C58E13-EC62-43E0-BE1A-53D4B9A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65042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B3D21-8F17-4FE6-9E6F-E9BA9030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6F7A5275-5CF1-4123-B894-4B8312D5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CFE8793-F7A0-4D7F-9F8D-8FE2555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CORE GAME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E28FE-DEE4-4193-B07C-EA22341E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게임 루프는 바다 쓰레기를 구조물과 생존 압박으로 전환합니다.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A2F5B-DA68-47A3-A30A-A0509639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76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f5a3ebbb64be4"/>
          <a:srcRect xmlns:a="http://schemas.openxmlformats.org/drawingml/2006/main" l="6866" t="0" r="68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85950"/>
            <a:ext cx="2647950" cy="1466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8266B-8EA5-4A7E-9EF9-1998C86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28800"/>
            <a:ext cx="2114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1b749c027463d"/>
          <a:srcRect xmlns:a="http://schemas.openxmlformats.org/drawingml/2006/main" l="3764" t="0" r="3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1885950"/>
            <a:ext cx="2000250" cy="1466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081F9-A6F1-487E-B736-63FDE655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21145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c77ecd21144bf"/>
          <a:srcRect xmlns:a="http://schemas.openxmlformats.org/drawingml/2006/main" l="0" t="2808" r="0" b="2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4495800"/>
            <a:ext cx="2000250" cy="1181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DD67C-9AE2-435B-B0B1-C9A663FD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09750"/>
            <a:ext cx="2038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E1E56-AEF9-426C-9BBD-6A9673B0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44F98-D0FB-419C-8C11-BA57A16A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9DB11-D6B9-444B-A2C7-73D9ACA5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062BF-08E1-46C9-922B-EFC56FB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14575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Hook 상태머신으로 쓰레기를 잡고 플레이어 근처에서 인벤토리에 적재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2BB70-9B6F-4732-8F73-9242A996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5F135-89B4-4C64-B1A7-B6C5655D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2038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DE359-56DC-4BA8-8BF5-DB22FF65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EA8EC-75DC-46D1-BA56-4A894A03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41B7D-D760-45C2-940B-6B2C474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812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자원화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55276-8099-4464-A00C-8920327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InventoryComponent가 스택, 슬롯 이동, 아이템 소모를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D9337-6F51-464E-B3E5-E38E6615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DA929-88C2-4564-9C9C-ABF31E58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038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3838E-A02D-4A73-9A25-F1F6BD5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7636A-AC39-4787-91DC-78226D8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290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3C0AE-78C2-4998-A743-743BD15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481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79684-0006-45BC-BF36-FE69112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81475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Hammer/BuildComponent가 프리뷰와 비용 검사를 거쳐 Floor, Wall, Roof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E959B-44C9-44B7-8E0A-F043821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80B34-E209-4824-9BC3-96E0DD7D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76650"/>
            <a:ext cx="20383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93CE5-A1B7-4C58-A707-36585952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766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19AAF-668E-4E72-BB77-9E5DAA8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87434D-14A3-4302-B117-AADE412F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위협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80DFD-05EB-49AD-BD65-FDF2B8F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81475"/>
            <a:ext cx="1257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Weather와 Shark Encounter가 파도, 시야, 구조물 파괴로 긴장감을 만듦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7B7F5-8972-405B-A6E4-F3D1462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1423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CAE57A-1B6F-4600-9841-0507188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Trash 2 + Plastic 1 = build block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7CA81-5677-4EEA-8D0D-7B6B499F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3B8D8E-5CF9-476A-BB79-F9E8D55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Engine: Trash 15 + Plastic 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21E1E8-DBEF-4DAF-8CA0-8AD4E27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발표에서는 이 루프를 먼저 보여준 뒤, 각 시스템의 구현 증거로 들어가는 순서가 가장 자연스럽습니다.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E607B4-4EB4-4CBC-8BDE-610BB7E6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Code evidence: AHook, UInventoryComponent, UBuildComponent, ARaftActor, AWeatherManager, UEncounterSubSystem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29E8D8-5EFD-4995-8AE0-71964916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8777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CAB91-0B35-422D-BBBF-EDD79652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B9794743-5B95-4790-8A4A-4F9D9DF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19E4206D-44D1-4CB8-A784-5EE6A35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B59E5-6752-414B-8D70-A62974B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입력 허브는 AMyCharacter, 실제 규칙은 시스템별 컴포넌트가 담당합니다.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F2599-A3A5-4BEE-A7E5-DA98B8E2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3276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14232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12FE4-F603-40EE-90A4-2E4B50D5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AMyCharacter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92D6F-5688-4293-84C8-2853C0E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194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7DE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7DED0"/>
                </a:solidFill>
                <a:latin typeface="Malgun Gothic"/>
                <a:ea typeface="Malgun Gothic"/>
                <a:cs typeface="Malgun Gothic"/>
              </a:rPr>
              <a:t>Enhanced Input · Tool Switching · UI Toggle · Line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1D587-B7C0-49B7-8EC6-66189C2B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1ED60-1240-4267-ADC1-9D0E47A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2C228-37CC-4EDD-8624-6163B7D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ToolSystem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97BA5-AF94-4DA1-BCC1-2035CD91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Hook / Hammer / Axe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InteractInterface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1DD53-2FFD-4188-80BF-B53C3E37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A8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94632-710A-4B63-93A1-01CEC95B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99254-07D4-40D4-8D7B-A6512775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4DE4C-C557-4D0A-98EC-5F1A04B1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stack, drag/drop,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ItemConsumption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04926-55CD-49B9-BC7A-0B216FB8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200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72767-2E0E-48BD-96F7-F022C72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7200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F8489-9FA9-480C-B19A-E42EF01E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434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Build + 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66199-F39B-4305-A914-824AE5E8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GridMap / WallMap / RoofMap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engine install, stability BFS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983AE-873C-4380-9318-32542A2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BD234-2D75-4A6E-93A6-7784C5DB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2B81A-6A0D-4168-9CBE-DE7033A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Buoyancy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AC601-9CF7-4EAD-B5A5-78C1697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8625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four pontoons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bounds + center of mass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7B49E-ACD8-403A-B80E-F35E3108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5E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680AA-1D70-48AD-94C9-AB36D8B8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9E9F6-FA05-4BE1-8C53-8E9623B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Weather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1EC8A-C52D-4F7D-8BA0-F23DAF09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wave lerp, cloud preset,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rain, lightning, light lerp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BF756C-8FFF-4B62-A432-6EFEBCCA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763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5D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FF03B-A482-437D-90C7-E6E6B9E5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763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2B0E15-020B-4FF9-8371-15D29055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478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Encounter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F68404-7246-401F-AD69-3190F9D7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scrap spawn,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JawsSpline, shark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8583E9-F1A6-4C38-8886-923C4F06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17BB6-EEDA-455D-A00B-77C89010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0055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96FEEA-50FD-468E-952A-4BADFFB5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427334-9B7B-433B-9050-F151AF6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A0BF15-D58D-438C-979A-84B50F8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B29E1-0E97-4FF0-9A7F-C8529D6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91FFA5-6C93-4665-B63B-40969C51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190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9FBFAE-584A-46A0-B546-CFAAB93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90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B1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77E2FB-EADD-4180-82F6-24C35BC0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99A135-C171-4E8F-B6CD-1022F0E1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48400"/>
            <a:ext cx="828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보강 포인트: 발표에서는 이 지도를 먼저 보여주고, 이후 슬라이드에서 각 노드를 실제 함수와 화면으로 증명합니다.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AB7C0-46A1-4022-94E5-0184AE2C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Files: Source/SemiRaft/Public + Private module folders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F4D8BD-D762-4A08-B5E6-C148EFB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23442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CA615D-35F9-4839-8B5A-2F5BCD1F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465D6D7E-3311-497A-8576-CCB40ADB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275CC8E-A0E9-4140-92FB-46ACBCE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COLLECTION +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3B2E4-1053-4666-BC18-5141DE79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후킹은 상태머신으로 움직이고, 인벤토리는 스택 단위로 건설 자원을 관리합니다.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39E74-4FAB-4650-AA25-0AB15965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543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b7dd07909423e"/>
          <a:srcRect xmlns:a="http://schemas.openxmlformats.org/drawingml/2006/main" l="0" t="1454" r="0" b="1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828800"/>
            <a:ext cx="3429000" cy="2076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A27AD-1F90-4CC4-92DC-980622DC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AHook 상태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A9B7-DBA4-4798-BE2D-A4301963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506B1-80BF-4CEA-BB83-C2F267BA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C0627-6419-43A6-8F0E-7852472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241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9766A-3073-4A49-AB2F-8F0DCF1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780DC-E0E2-4357-BF44-1DFA7BC5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CHARGING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09B85-4229-4E53-A2AC-1E7145C0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B5982-CC00-426F-A3D8-FC80011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15700-E4D3-4316-B96B-30CBB0D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24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LAUNCHING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19AD9-5D14-4DB0-99B9-AAD8A8A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C676C-C83E-4CF1-926B-BA292449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C66D5-EF0D-41B2-A22C-CE46897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HOOKED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374E9-9491-449C-8422-1E746F9A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8010C-678F-4E9E-883B-01CBE2D5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860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48BA4-18A0-469C-9DCB-05646C9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RETURNING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4F71D-7C2E-453C-A7F5-F330C0C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584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4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CAAF1-26F1-4F71-985A-C47DF07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구현 근거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F0A37-AEAA-4A6D-A535-4C76D533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· LaunchSpeed = MinLaunchingSpeed~MaxLaunchingSpeed를 ChargingTime으로 보간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· Hooked/Returning 상태에서 Trash가 Hook Mesh에 붙고 bIsHooked가 true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· 플레이어 Sphere overlap에서 PickUpItem 후 월드 아이템 제거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6D97D-E5FE-454F-AE78-E8E470B7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InventoryComponent 핵심 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6099C-B436-44A3-BB63-A20A8EA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A0B8E-D1E5-4218-8AFE-27679ED2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PickUpItem은 같은 ItemID 스택을 먼저 채우고, 남은 수량을 빈 슬롯에 배치합니다. ItemConsumption은 여러 슬롯을 순회하며 필요한 수량만큼 차감합니다.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EAC5E-3F64-408D-8003-B9843CB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76750"/>
            <a:ext cx="1181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61155-FE0B-4619-87D6-374A2976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1F313-5011-4841-9B89-274E57DF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101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InventorySize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D8C505-77DA-4427-A06C-4099284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1181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A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79581-A7D3-4592-A51D-584EA3C7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1329B6-C91B-4848-804B-D52381FE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101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WindowColumn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9D5D51-0055-4BAD-B165-491B9060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76750"/>
            <a:ext cx="1181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46C09-6075-48E3-AB8A-06966EEB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482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2 + 1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DE4180-46FD-47DB-8DBB-0A8ADE2F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Build Cost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2B5E7B-39B7-4EC5-B74C-DC9F2430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76750"/>
            <a:ext cx="1181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A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98DFD7-9E14-4728-AC58-A7E34BF7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482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15 + 15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E83F2F-D42B-4C6D-9139-5380C521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1015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Engine Cost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2F1648-9E9B-43F9-92CE-D3E99004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Files: ToolSystem/Hook.cpp, InventorySystem/InventoryComponent.cpp, Player/MyCharacter.cpp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6E5766-A3E4-4724-97BE-553A647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31688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5BE1F-CC1D-4496-80BF-F809ED0C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C2419BCD-31B2-4E99-81AE-8907D0E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C24B3B4-A3A5-4F6F-B8FE-378FF7F4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RAFT BUILD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A33DD-1BBB-4AEC-93B3-E28F9FF7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건설 시스템은 그리드 프리뷰, 자원 체크, 블록 맵 갱신으로 구성됩니다.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FB5FC-4214-4299-A6AB-5660A4B4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857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96394ea284966"/>
          <a:srcRect xmlns:a="http://schemas.openxmlformats.org/drawingml/2006/main" l="2719" t="0" r="2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2743200" cy="2057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F3663-08E7-4479-B51C-434F544C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52600"/>
            <a:ext cx="2857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e2bf32e2c41d3"/>
          <a:srcRect xmlns:a="http://schemas.openxmlformats.org/drawingml/2006/main" l="4792" t="0" r="4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809750"/>
            <a:ext cx="2743200" cy="2057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F34B4-AD19-472D-92FD-AD0DBEA8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D9C7A-86B4-4C68-A4C0-419516F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PreviewMaterialRed: 건설 불가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320A7-E032-4B85-A80A-E9FF0E8E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86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E7C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D66D5-F65E-4A8C-BB1C-3F78451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767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PreviewMaterial: 건설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45618-67DF-4F20-82B6-25FEF74A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3676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43927-71F9-48AB-A49F-C35E118E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942D0-3AC1-4CDF-B03A-22B60EF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050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47EA2-0E77-4A02-B136-95AC129F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도구 진입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81A47-00A6-4625-8D83-E8E1725D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57425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Hammer 장착 시 BuildMode 활성화</a:t>
            </a:r>
          </a:p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RightClick으로 Floor→Wall→Roof 순환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1EE46-D7D9-4260-981C-248AD678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3676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B487A-1D9F-44E2-B194-6A0D3EB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3B950-52A5-4C89-AFC0-98767F8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F3742-0051-45DD-A0F4-02BF3397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프리뷰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A7C83-79AA-4AEA-9835-FE908635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62325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카메라 라인트레이스/평면 교차로 TargetGridCoordinate 계산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8CB65-2AFD-4AF9-BD27-6D8CF91B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3676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0962F-8B8A-4E96-985E-4C58ADE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A7005-8BCD-4CD4-9E3A-7840BD3C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148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4F2BF-75DE-4B20-91BD-0F9198EF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338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비용 검사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F6188-A839-4985-97EA-1C08290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67225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Trash 2개 + Plastic 1개가 있으면 bCanBuild 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1D174-4ECA-44E5-8278-335E41B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67300"/>
            <a:ext cx="3676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EA744-1455-4F8C-A182-28B50DCD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67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4091F-E8FA-49C9-B8A1-227C1F92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97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42B57-FA37-4ACD-A413-D340271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38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생성/갱신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2BA25-61B4-4DF9-8C4F-BDE1E697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72125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SpawnFloor/Wall/Roof 후 GridMap, WallMap, RoofMap 업데이트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223D4-F16A-4274-860E-6756920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5715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2EF53-29A1-4D18-A39C-7FF3CCD0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발표 변경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67D717-A1B9-48A8-8F22-E8874F51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53000"/>
            <a:ext cx="394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단순 건설 화면 대신, 빨간/초록 프리뷰가 어떤 조건식으로 바뀌는지 설명하면 구현 난이도가 바로 전달됩니다.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FDB3BF-D5F9-4BE4-8EBF-36287AC6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Files: BuildSystem/BuildComponent.cpp, BuildSystem/RaftActor.cpp, ToolSystem/Hammer.cpp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B99489-1DCD-40E9-B3C6-0C78DCEB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55032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0F9E3-A12D-4A68-8F70-3971097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E2DA1475-0948-4C44-B585-DF20574A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239B9AEF-EA05-47D1-A894-83C1784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BUOYANCY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D781A-C4CF-40CB-B042-7E403E6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부력은 커지는 래프트를 네 개의 동적 pontoon으로 다시 계산합니다.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4376C-104A-4A48-9D86-967663C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F5F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F5B7C-C548-445D-BA9B-EE9F9E8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61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ComputePontoonsForRaft()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92E5B-2CAA-437A-B4D6-E21D3ECF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638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1. SimulatingComponent의 자식 FloorComp를 순회</a:t>
            </a:r>
          </a:p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2. 래프트 bounds와 CenterOfMass 기준으로 좌우/전후 거리 계산</a:t>
            </a:r>
          </a:p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3. 네 pontoon의 RelativeLocation을 모서리에 배치</a:t>
            </a:r>
          </a:p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4. 질량과 중력값으로 pontoon radius를 재계산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E6BB7-CB7D-4323-BC58-8E8EDBCD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9ECC8-FF37-4159-8FE1-EAE82DE0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발표에서는 이 장을 물리 구현의 차별점으로 사용합니다.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4322-F16D-489B-9A99-E4F33AA1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4572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02F"/>
          </a:solidFill>
          <a:ln xmlns:a="http://schemas.openxmlformats.org/drawingml/2006/main" w="9525">
            <a:solidFill>
              <a:srgbClr val="4661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DF3AE-39AE-4380-970E-82F921F0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2667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F68"/>
          </a:solidFill>
          <a:ln xmlns:a="http://schemas.openxmlformats.org/drawingml/2006/main" w="19050">
            <a:solidFill>
              <a:srgbClr val="D9C8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0D5FA-4439-44B2-8A44-629633D2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B48D"/>
          </a:solidFill>
          <a:ln xmlns:a="http://schemas.openxmlformats.org/drawingml/2006/main" w="9525">
            <a:solidFill>
              <a:srgbClr val="EFE1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C4FE1-D23B-4AD7-BA73-398FF3F5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9525">
            <a:solidFill>
              <a:srgbClr val="B98D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9D21E-777C-40D6-907F-EDD3B38B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717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A5376-D317-400C-A215-1F40F3FF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9525">
            <a:solidFill>
              <a:srgbClr val="B98D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2BCD4-7307-4321-864B-C905737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717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78BA7-FF7B-4596-98FB-F6D3BFB1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9525">
            <a:solidFill>
              <a:srgbClr val="B98D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82E5E-6F07-4D5A-8F72-8EAAD28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624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FE3BB-5079-4237-A8A6-010D601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9525">
            <a:solidFill>
              <a:srgbClr val="B98D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93A62-B239-4A17-A76D-2003DB5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624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F0E4E-84B9-48E4-90AB-E42A83CE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230BE-BE85-4134-A903-6177780F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3ED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3EDE2"/>
                </a:solidFill>
                <a:latin typeface="Malgun Gothic"/>
                <a:ea typeface="Malgun Gothic"/>
                <a:cs typeface="Malgun Gothic"/>
              </a:rPr>
              <a:t>Center of Mass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190F7-9159-4253-8FA3-0ED9B55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52c8d6366488a"/>
          <a:stretch xmlns:a="http://schemas.openxmlformats.org/drawingml/2006/main"/>
        </p:blipFill>
        <p:spPr>
          <a:xfrm xmlns:a="http://schemas.openxmlformats.org/drawingml/2006/main">
            <a:off x="5879211" y="4953000"/>
            <a:ext cx="4624578" cy="647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C0998-F060-4ED0-BEB4-4E7C0615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Files: Buoyancy/RaftPlatformBuoyancyComponent.cpp, Buoyancy/BuoyancyRootActor.cpp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3BB6D-14F2-4807-8884-78439E35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41013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FE181-E101-4D02-B4E0-37CB0937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25D4337-63D1-45F6-AEE4-9F78B28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1DAA8F9-E2A9-400F-BA8C-85E6555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WEATHER TRANSITION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E3190-A5CF-4A3E-9D55-ED5B004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날씨 시스템은 파도, 구름, 비, 번개, 조명을 한 번에 전환합니다.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56793-F4F9-4D32-8836-FAD5DB5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6863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13df5ca50446c"/>
          <a:srcRect xmlns:a="http://schemas.openxmlformats.org/drawingml/2006/main" l="0" t="5243" r="0" b="5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D643E-B54C-4C54-8AF9-23CB7DAA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52600"/>
            <a:ext cx="46863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e59687b4949b9"/>
          <a:srcRect xmlns:a="http://schemas.openxmlformats.org/drawingml/2006/main" l="0" t="5044" r="0" b="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18097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A3760-DFD2-4591-A76D-C5784815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Clear Sea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499B6-1C4E-40FE-B67F-BA35C2FB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Storm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17AB5-6478-4953-8D34-065C436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6CE5D-FB6D-42F0-8D0D-CD859DDD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8210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13D25-750C-4402-9A8A-0CB8971E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53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WeatherManager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778B7-CB61-4C78-8569-B1A20A1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RunTestWaterBodyFunction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0B96B-8BF8-4DDE-8494-CA0E94A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292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1779C-3A67-4D92-BD8F-5368C59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53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Ocean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9092B-A1D1-4ECA-9D30-0A6BA467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WaveToTargetWave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A43A1-F027-442B-AB8B-0233BE2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292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F2A7D-CF41-450F-9DD1-C4FE1FC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53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Cloud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77AC2-9DB5-4DF6-A1E4-D55E319D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StateToTargetState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625FC-4670-4CFE-919F-E33F8A9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292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A5E7E-45C9-40E5-B591-2617E226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53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FX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DEFF3-BCCF-4788-A1F4-AF60B156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Rain + Lightning + Light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5F922-2121-41D8-A2E3-4932BB09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ADDC05-2667-4D2F-A79F-45B1FD49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484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보강 포인트: 날씨는 배경 연출이 아니라 플레이 압박을 높이는 상태 전환 시스템으로 소개합니다.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2745C-9EE5-4561-84AA-2156B911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Files: Weather/WeatherManager.cpp, Weather/WeatherWaterBodyOcean.cpp, Weather/WeatherVolumetricCloud.cpp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928A7-8601-4E43-AAC8-1E385AB1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7726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BA7903-7DFA-408F-B023-EDB2517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B75154F1-7463-47AD-8E1B-FF3391F4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CB84393-A4FD-4271-8EA3-EBE09BD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SHARK ENCOUNTER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30EC0-5E60-4207-B1B2-52D12B63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상어 인카운터는 연출용 접근 이후 실제 래프트 블록을 파괴합니다.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A8948-FFCD-4EA7-9856-4D3DEB2B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162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66338-51DA-4EE3-8D51-66B57CE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1EB12-D362-4BA5-B007-BA347AEB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291CA-2B57-4762-803B-F6221DEB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62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스폰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ACD8-4EA2-41FA-97AA-2EBF8BE6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955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UEncounterSubSystem이 JawsSpline과 Shark를 생성하고 JawsSound를 재생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83B9F-8C3A-427E-BF6D-101E1DEC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62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2C02C-5A82-4CA5-9216-804C2C4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11B66-4760-4AC6-A385-8644802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24105-E21B-4733-AA78-C11369D7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62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유도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73639-DB25-4638-9982-F30E38D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955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상어는 처음에는 Spline의 TargetSphereComponent를 추적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F89B9-678F-466D-B3FA-7FCF517C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162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FB396-96CE-4733-B45A-A875E0C8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5C5B5-950E-4B3B-8688-DC8F408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E7C7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91144-6CE8-431C-83A9-AF0AE317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62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전환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622DC-5613-47DB-80F0-DEC4B2F2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95525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10~23초 뒤 Target을 래프트 RootComponent로 교체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EAE79-C7B4-4DD7-8674-1691911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8D0C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8D0C3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0AD9E-0A6B-40A6-BE2F-7FC877DB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9067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F5F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E0AE2-A3D5-433F-B1C7-AFBB95F0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576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공격 처리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282B4-BF7F-4933-B938-67CF7B0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AttackOverlap이 ARaftActor의 FloorComp와 겹치면 해당 GridKey를 찾아 DestroyBlockAndCheckStability를 호출합니다. 이 함수는 동적 앵커와 BFS 연결성 검사로 고립된 바닥까지 함께 제거합니다.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20A20-9235-4A7D-BFFC-7FFD0D68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75E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30096-FB4E-4036-8854-17EC21E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EdgeGridSet → shark target 후보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A25BF5-BD6A-4A16-9AF0-1F7EADE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C30BC-8863-4679-A485-707FD904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BFS → 고립 블록 제거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D85BE-E764-469C-A5C7-B078CBF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150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발표 변경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FBE68-5EC3-496E-B235-62981D8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340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DE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7DED0"/>
                </a:solidFill>
                <a:latin typeface="Malgun Gothic"/>
                <a:ea typeface="Malgun Gothic"/>
                <a:cs typeface="Malgun Gothic"/>
              </a:rPr>
              <a:t>상어는 단순 적이 아니라 래프트 구조 안정성 시스템을 관객에게 보여주는 이벤트로 설명합니다.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7CA619-F864-4B5E-9DE1-AE0A880C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Files: Encounter/EncounterSubSystem.cpp, Enemy/Shark.cpp, Enemy/SharkMovementComponent.cpp, BuildSystem/RaftActor.cpp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7FF64-2B26-4026-981F-426AEEED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61531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C5EEC-1C05-49C6-94AB-47D72385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F083FA4E-D4D2-4BCE-B22B-944FBAD7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D8FBC68C-3B09-4F91-9657-634C8F7A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DEMO STORYBOARD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CE8B0-5D22-4C41-AF7C-C9D1212F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시연은 기능별 장면을 나누지 말고 하나의 생존 흐름으로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F49F0-9C2E-4F92-8A98-62459036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305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7fb046f704723"/>
          <a:srcRect xmlns:a="http://schemas.openxmlformats.org/drawingml/2006/main" l="8366" t="0" r="8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190750" cy="1257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4BDF6-5072-43AE-8769-33C0B94E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305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97451-08C0-4123-B004-96F8DD5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1. 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32559-CFFF-4FEE-9D5D-B2C1F15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바다 쓰레기 조준/투척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7AEFB-943B-48DC-B72C-B638464F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305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0e06a3b44602"/>
          <a:srcRect xmlns:a="http://schemas.openxmlformats.org/drawingml/2006/main" l="0" t="3991" r="0" b="3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5200" y="1809750"/>
            <a:ext cx="2190750" cy="1257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9A16D-B032-44B3-9180-7928A14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2305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A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0087C-16C2-42F1-A0B8-60D4C280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2. 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20E8B-FFB3-4FCC-BCF7-BAA8FC68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재료 획득과 스택 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27871-9475-4006-99F1-F2A5C6C8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2305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3994e75d24110"/>
          <a:srcRect xmlns:a="http://schemas.openxmlformats.org/drawingml/2006/main" l="0" t="7684" r="0" b="76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809750"/>
            <a:ext cx="2190750" cy="1257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42418-300C-4CAE-93A0-963E874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2305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CE9BB-16D4-4F65-9043-B46C4C0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3.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01E44-1452-4F50-8538-E4FB1F1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초록 프리뷰 후 바닥 확장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3B190-DA31-4385-9F81-F691344B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05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c1107a75a418d"/>
          <a:srcRect xmlns:a="http://schemas.openxmlformats.org/drawingml/2006/main" l="0" t="4132" r="0" b="4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1809750"/>
            <a:ext cx="2190750" cy="12573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0D9F6-A833-4C4D-AADF-32321DB6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2305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A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CC839-3BD9-4766-9F01-917E0D5F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4. Weather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FC2DC-114E-4492-83C0-28579368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90950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폭풍 전환과 시야 압박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999D9-53B7-4F58-8B6E-3174279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10020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14232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29C53-8E50-4C2D-966E-31CC379D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권장 발표 순서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75C4E-4F9C-4DC2-80B5-5461F43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DE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7DED0"/>
                </a:solidFill>
                <a:latin typeface="Malgun Gothic"/>
                <a:ea typeface="Malgun Gothic"/>
                <a:cs typeface="Malgun Gothic"/>
              </a:rPr>
              <a:t>후킹으로 자원 확보 → 인벤토리 증가 확인 → Hammer로 건설 → 폭풍 전환 → 상어 이벤트/구조물 파괴 설명. 실패 가능성이 있는 장면은 에디터 캡처를 백업 화면으로 둡니다.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7D5B50-1626-44F6-8870-1A80170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PDF extracted images used as demo storyboard anchors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B99B72-8D9D-4BD4-ACA7-9F10904D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21873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9C6B2-22AE-400E-B200-470A2E07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7554C1B6-E092-41FA-9291-58DDEA5D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444B12EA-867A-4924-A314-C57E0255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5D39"/>
                </a:solidFill>
                <a:latin typeface="Malgun Gothic"/>
                <a:ea typeface="Malgun Gothic"/>
                <a:cs typeface="Malgun Gothic"/>
              </a:rPr>
              <a:t>NEXT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08CBA-48F6-479E-8281-3898296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마무리는 발표 보강과 코드 안정화 작업을 분리해서 제시합니다.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C6427-AA1A-4443-BA87-26EC12FF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A14C-5008-4746-8B07-FFE5E81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2"/>
          </a:solidFill>
          <a:ln xmlns:a="http://schemas.openxmlformats.org/drawingml/2006/main" w="0">
            <a:solidFill>
              <a:srgbClr val="1423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36D6F-D8DD-4243-ADC4-293A3FE4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75E63"/>
                </a:solidFill>
                <a:latin typeface="Malgun Gothic"/>
                <a:ea typeface="Malgun Gothic"/>
                <a:cs typeface="Malgun Gothic"/>
              </a:rPr>
              <a:t>발표 자료에 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20284-75DB-4B51-8185-6BDA001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B2A00-E77C-4147-93D6-967813FF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1. 아키텍처 맵과 게임 루프 슬라이드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84378-20DA-41E8-9D60-9BB0B0F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2. 건설 비용, 엔진 비용, Hook 상태값을 캡션에 명시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19C4F-079C-46DE-AFEA-8FCB7663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3. 부력/날씨/상어 인카운터를 구현 근거 장으로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B36B5-27F0-496B-AB4C-A3767C1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4. PDF 이미지와 코드 파일명을 함께 표기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2BF26-E297-42B2-B354-F196670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42322"/>
                </a:solidFill>
                <a:latin typeface="Malgun Gothic"/>
                <a:ea typeface="Malgun Gothic"/>
                <a:cs typeface="Malgun Gothic"/>
              </a:rPr>
              <a:t>5. 데모 스토리보드와 백업 화면 계획 추가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DBDA7-F5B5-4425-BBDF-A4D40453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D7A84E"/>
                </a:solidFill>
                <a:latin typeface="Malgun Gothic"/>
                <a:ea typeface="Malgun Gothic"/>
                <a:cs typeface="Malgun Gothic"/>
              </a:rPr>
              <a:t>코드/데모에서 변경 권장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4532C-D433-495F-B12A-31A9868B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FCB6F-63F2-46AC-A039-CEBEB85C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rPr>
              <a:t>1. 하드코딩된 Blueprint 경로/이름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A1FFA-DBB4-442C-AE98-C043A48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147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rPr>
              <a:t>2. SpawnActor 반환값 null 체크 순서 보강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82DC0-3447-4953-8928-97EE1C9B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rPr>
              <a:t>3. 한국어 주석 인코딩 깨짐 정리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BCCF3-788A-4150-8288-B976B23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rPr>
              <a:t>4. InventoryWidget이 없을 때 Update 로그/동작 완화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B8E7A-7FE4-43CB-845F-85AB28DF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1E9DB"/>
                </a:solidFill>
                <a:latin typeface="Malgun Gothic"/>
                <a:ea typeface="Malgun Gothic"/>
                <a:cs typeface="Malgun Gothic"/>
              </a:rPr>
              <a:t>5. 초기 EdgeGridSet 갱신과 Shark 타깃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8065C-466A-42FE-BEF1-D6C6AD8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28532-EC57-4D59-88DD-FEAD1099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626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메시지: SemiRaft는 화면보다 시스템 연결성이 강한 프로젝트입니다. 발표는 그 연결성을 먼저 보여줘야 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AE5B3-DC6C-4288-BB85-B71A929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Final checklist from code review and PDF asset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A082F-04F5-417D-866E-4F7DB764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C746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208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2026-06-04T05:58:09.1850000Z</dcterms:created>
  <dcterms:modified xsi:type="dcterms:W3CDTF">2026-06-04T05:58:09.1850000Z</dcterms:modified>
</coreProperties>
</file>